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22B82"/>
          </a:solidFill>
          <a:ln>
            <a:solidFill>
              <a:srgbClr val="12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1">
                <a:solidFill>
                  <a:srgbClr val="224CBE"/>
                </a:solidFill>
                <a:latin typeface="Aptos"/>
              </a:rPr>
              <a:t>AIORI HACKATHON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4600" b="1">
                <a:solidFill>
                  <a:srgbClr val="122B82"/>
                </a:solidFill>
                <a:latin typeface="Aptos"/>
              </a:rPr>
              <a:t>HiLo-Fed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10789920" cy="9144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500" b="1">
                <a:solidFill>
                  <a:srgbClr val="224CBE"/>
                </a:solidFill>
                <a:latin typeface="Aptos"/>
              </a:rPr>
              <a:t>Hierarchical, Low-Rank, Drift-Triggered
Federated Traffic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90672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0">
                <a:solidFill>
                  <a:srgbClr val="5C6578"/>
                </a:solidFill>
                <a:latin typeface="Aptos"/>
              </a:rPr>
              <a:t>Communication-efficient traffic forecasting without centralizing raw sensor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383280" cy="11430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77639"/>
            <a:ext cx="68580" cy="114300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69079"/>
            <a:ext cx="310896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3090672" cy="6492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0">
                <a:solidFill>
                  <a:srgbClr val="1E2636"/>
                </a:solidFill>
                <a:latin typeface="Aptos"/>
              </a:rPr>
              <a:t>HACKLTZS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977639"/>
            <a:ext cx="3383280" cy="11430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977639"/>
            <a:ext cx="68580" cy="1143000"/>
          </a:xfrm>
          <a:prstGeom prst="rect">
            <a:avLst/>
          </a:prstGeom>
          <a:solidFill>
            <a:srgbClr val="188C70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69079"/>
            <a:ext cx="310896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TEAM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416552"/>
            <a:ext cx="3090672" cy="6492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0">
                <a:solidFill>
                  <a:srgbClr val="1E2636"/>
                </a:solidFill>
                <a:latin typeface="Aptos"/>
              </a:rPr>
              <a:t>PS003 TC482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77639"/>
            <a:ext cx="3383280" cy="11430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977639"/>
            <a:ext cx="68580" cy="1143000"/>
          </a:xfrm>
          <a:prstGeom prst="rect">
            <a:avLst/>
          </a:prstGeom>
          <a:solidFill>
            <a:srgbClr val="E6922A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4069079"/>
            <a:ext cx="310896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PRESENTER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4416552"/>
            <a:ext cx="3090672" cy="6492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0">
                <a:solidFill>
                  <a:srgbClr val="1E2636"/>
                </a:solidFill>
                <a:latin typeface="Aptos"/>
              </a:rPr>
              <a:t>Shlok Agarwal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76672"/>
            <a:ext cx="64008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5C6578"/>
                </a:solidFill>
                <a:latin typeface="Aptos"/>
              </a:rPr>
              <a:t>Shlok Agarwal  ·  shlokagarwal64@gmail.com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492240"/>
            <a:ext cx="310896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AIORI 3  •  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2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Problem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Why traffic prediction needs communication-aware federated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91640"/>
            <a:ext cx="3474720" cy="146304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68580" cy="146304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83080"/>
            <a:ext cx="320040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1 ·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130552"/>
            <a:ext cx="3182112" cy="96926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Traffic sensors generate local mobility data. Raw records should remain at their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691640"/>
            <a:ext cx="3474720" cy="146304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691640"/>
            <a:ext cx="68580" cy="1463040"/>
          </a:xfrm>
          <a:prstGeom prst="rect">
            <a:avLst/>
          </a:prstGeom>
          <a:solidFill>
            <a:srgbClr val="E6922A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1783080"/>
            <a:ext cx="320040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2 ·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130552"/>
            <a:ext cx="3182112" cy="96926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Standard federated learning repeatedly exchanges large model updates across many rounds.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691640"/>
            <a:ext cx="3474720" cy="146304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691640"/>
            <a:ext cx="68580" cy="1463040"/>
          </a:xfrm>
          <a:prstGeom prst="rect">
            <a:avLst/>
          </a:prstGeom>
          <a:solidFill>
            <a:srgbClr val="188C70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783080"/>
            <a:ext cx="320040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3 · Changing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182112" cy="96926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Rush hours, incidents and events shift local patterns; fixed schedules can waste bandwidth.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1">
                <a:solidFill>
                  <a:srgbClr val="122B82"/>
                </a:solidFill>
                <a:latin typeface="Aptos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41648"/>
            <a:ext cx="10607040" cy="9144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000" b="0">
                <a:solidFill>
                  <a:srgbClr val="1E2636"/>
                </a:solidFill>
                <a:latin typeface="Aptos"/>
              </a:rPr>
              <a:t>Predict future traffic flow while keeping raw data local, reducing total communication, and preserving predictive quality close to a standard federated-learning baseline.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600" b="1">
                <a:solidFill>
                  <a:srgbClr val="224CBE"/>
                </a:solidFill>
                <a:latin typeface="Aptos"/>
              </a:rPr>
              <a:t>HiLo-Fed combines smaller updates, drift-triggered participation, and hierarchical edge aggregation.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3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Federated learning keeps data local—but model communication still has a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3429000" cy="20574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68580" cy="205740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Federated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84832"/>
            <a:ext cx="3136392" cy="15636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Each sensor trains locally. Only model updates are shared with an aggregator; raw traffic records stay on-device.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45920"/>
            <a:ext cx="3429000" cy="20574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45920"/>
            <a:ext cx="68580" cy="2057400"/>
          </a:xfrm>
          <a:prstGeom prst="rect">
            <a:avLst/>
          </a:prstGeom>
          <a:solidFill>
            <a:srgbClr val="188C70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LoRA adapters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084832"/>
            <a:ext cx="3136392" cy="15636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A low-rank adapter learns a small change to a mostly frozen model, avoiding transmission of the full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429000" cy="20574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68580" cy="2057400"/>
          </a:xfrm>
          <a:prstGeom prst="rect">
            <a:avLst/>
          </a:prstGeom>
          <a:solidFill>
            <a:srgbClr val="E6922A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Concept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2"/>
            <a:ext cx="3136392" cy="15636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When traffic behavior differs from its recent baseline, local updates become more valuable than during stable periods.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1">
                <a:solidFill>
                  <a:srgbClr val="122B82"/>
                </a:solidFill>
                <a:latin typeface="Aptos"/>
              </a:rPr>
              <a:t>CORE DESIGN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10607040" cy="9144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800" b="0">
                <a:solidFill>
                  <a:srgbClr val="1E2636"/>
                </a:solidFill>
                <a:latin typeface="Aptos"/>
              </a:rPr>
              <a:t>Spend communication where it can change the model: transmit compact updates only when local traffic has changed enough, and use nearby edge servers to reduce long-distance exchanges.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Literature &amp; RFC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Literature &amp; RFC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Relevant method families and the gap HiLo-Fed 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27632"/>
            <a:ext cx="3520440" cy="18288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27632"/>
            <a:ext cx="68580" cy="182880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19072"/>
            <a:ext cx="324612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Federated Averaging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66543"/>
            <a:ext cx="3227832" cy="13350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A baseline for combining client model updates. Repeated full-size exchanges can be communication-heavy.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627632"/>
            <a:ext cx="3520440" cy="18288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627632"/>
            <a:ext cx="68580" cy="1828800"/>
          </a:xfrm>
          <a:prstGeom prst="rect">
            <a:avLst/>
          </a:prstGeom>
          <a:solidFill>
            <a:srgbClr val="188C70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719072"/>
            <a:ext cx="324612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Low-rank 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066543"/>
            <a:ext cx="3227832" cy="13350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LoRA-style parameter-efficient updates reduce the number of trainable and transmitted parameters.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1627632"/>
            <a:ext cx="3520440" cy="18288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9288" y="1627632"/>
            <a:ext cx="68580" cy="1828800"/>
          </a:xfrm>
          <a:prstGeom prst="rect">
            <a:avLst/>
          </a:prstGeom>
          <a:solidFill>
            <a:srgbClr val="E6922A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719072"/>
            <a:ext cx="324612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Event-triggered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066543"/>
            <a:ext cx="3227832" cy="13350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Communication is initiated by a local change signal rather than only by a fixed timer.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703320"/>
            <a:ext cx="1078992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1">
                <a:solidFill>
                  <a:srgbClr val="122B82"/>
                </a:solidFill>
                <a:latin typeface="Aptos"/>
              </a:rPr>
              <a:t>HILO-FED’S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10698480" cy="164592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636"/>
                </a:solidFill>
                <a:latin typeface="Aptos"/>
              </a:defRPr>
            </a:pPr>
            <a:r>
              <a:t>•  Combine update compression, adaptive participation, and edge/cloud hierarchy in one traffic-prediction workflow.</a:t>
            </a:r>
          </a:p>
          <a:p>
            <a:pPr>
              <a:spcAft>
                <a:spcPts val="800"/>
              </a:spcAft>
              <a:defRPr sz="1500">
                <a:solidFill>
                  <a:srgbClr val="1E2636"/>
                </a:solidFill>
                <a:latin typeface="Aptos"/>
              </a:defRPr>
            </a:pPr>
            <a:r>
              <a:t>•  Evaluate against standard federated averaging and a compressed federated baseline.</a:t>
            </a:r>
          </a:p>
          <a:p>
            <a:pPr>
              <a:spcAft>
                <a:spcPts val="800"/>
              </a:spcAft>
              <a:defRPr sz="1500">
                <a:solidFill>
                  <a:srgbClr val="1E2636"/>
                </a:solidFill>
                <a:latin typeface="Aptos"/>
              </a:defRPr>
            </a:pPr>
            <a:r>
              <a:t>•  Treat bytes transmitted and prediction error as joint outcomes; gains must be measured experimentally.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Three complementary mechanisms reduce communication without centralizing raw traffic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3429000" cy="201168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68580" cy="201168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01 · Low-rank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84832"/>
            <a:ext cx="3136392" cy="151790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Freeze the shared base model. Each client trains a small LoRA adapter and sends that adapter instead of the full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45920"/>
            <a:ext cx="3429000" cy="201168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45920"/>
            <a:ext cx="68580" cy="2011680"/>
          </a:xfrm>
          <a:prstGeom prst="rect">
            <a:avLst/>
          </a:prstGeom>
          <a:solidFill>
            <a:srgbClr val="E6922A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02 · Drift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084832"/>
            <a:ext cx="3136392" cy="151790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Monitor local traffic behavior. Upload when change exceeds an adaptive threshold; remain quiet when conditions are 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429000" cy="201168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68580" cy="2011680"/>
          </a:xfrm>
          <a:prstGeom prst="rect">
            <a:avLst/>
          </a:prstGeom>
          <a:solidFill>
            <a:srgbClr val="188C70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03 · Hierarchical aggregation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2"/>
            <a:ext cx="3136392" cy="151790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Sensors report to nearby district/cluster edge servers. Edge servers combine updates and communicate with the cloud less often.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096512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900" b="1">
                <a:solidFill>
                  <a:srgbClr val="122B82"/>
                </a:solidFill>
                <a:latin typeface="Aptos"/>
              </a:rPr>
              <a:t>END-TO-END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53712"/>
            <a:ext cx="10607040" cy="9144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800" b="0">
                <a:solidFill>
                  <a:srgbClr val="1E2636"/>
                </a:solidFill>
                <a:latin typeface="Aptos"/>
              </a:rPr>
              <a:t>Local traffic → local training → drift check → compact adapter upload → edge aggregation → occasional cloud aggregation → updated model returned to edge clients.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Solution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Solution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Baseline versus HiLo-Fed: expected design-level differences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600200"/>
            <a:ext cx="2057400" cy="713232"/>
          </a:xfrm>
          <a:prstGeom prst="rect">
            <a:avLst/>
          </a:prstGeom>
          <a:solidFill>
            <a:srgbClr val="122B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600200"/>
            <a:ext cx="3840480" cy="713232"/>
          </a:xfrm>
          <a:prstGeom prst="rect">
            <a:avLst/>
          </a:prstGeom>
          <a:solidFill>
            <a:srgbClr val="122B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Conventional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4892040" cy="713232"/>
          </a:xfrm>
          <a:prstGeom prst="rect">
            <a:avLst/>
          </a:prstGeom>
          <a:solidFill>
            <a:srgbClr val="122B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HiLo-Fed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13432"/>
            <a:ext cx="205740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Update 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313432"/>
            <a:ext cx="384048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Full model / regular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313432"/>
            <a:ext cx="489204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Small LoRA adapter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026664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Upload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3026664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Fixed or frequent rounds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026664"/>
            <a:ext cx="4892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Triggered by local traffic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39896"/>
            <a:ext cx="205740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Network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739896"/>
            <a:ext cx="384048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Clients communicate with central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739896"/>
            <a:ext cx="489204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Clients → nearby edge → cloud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53128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Raw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453128"/>
            <a:ext cx="3840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Must remain local for FL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453128"/>
            <a:ext cx="48920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Remains local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166360"/>
            <a:ext cx="205740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Evaluation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166360"/>
            <a:ext cx="384048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Prediction error + total bytes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166360"/>
            <a:ext cx="4892040" cy="713232"/>
          </a:xfrm>
          <a:prstGeom prst="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wrap="square"/>
          <a:lstStyle/>
          <a:p>
            <a:pPr algn="ctr"/>
            <a:r>
              <a:rPr sz="1300">
                <a:solidFill>
                  <a:srgbClr val="1E2636"/>
                </a:solidFill>
                <a:latin typeface="Aptos"/>
              </a:rPr>
              <a:t>Prediction error + total bytes + communication 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1">
                <a:solidFill>
                  <a:srgbClr val="C1434A"/>
                </a:solidFill>
                <a:latin typeface="Aptos"/>
              </a:rPr>
              <a:t>Expected direction, not measured results: validate the accuracy–communication trade-off experimentally.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Architecture Design (UML Diagram)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Solution Architecture &amp;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Hierarchical training and aggregation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1874519" cy="822960"/>
          </a:xfrm>
          <a:prstGeom prst="roundRect">
            <a:avLst/>
          </a:prstGeom>
          <a:solidFill>
            <a:srgbClr val="E0EAFF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Road sensors
(local traffic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74519"/>
            <a:ext cx="1874519" cy="822960"/>
          </a:xfrm>
          <a:prstGeom prst="roundRect">
            <a:avLst/>
          </a:prstGeom>
          <a:solidFill>
            <a:srgbClr val="F5F8FF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Local model
+ LoRA adapter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874519"/>
            <a:ext cx="1920240" cy="822960"/>
          </a:xfrm>
          <a:prstGeom prst="roundRect">
            <a:avLst/>
          </a:prstGeom>
          <a:solidFill>
            <a:srgbClr val="FFF2DE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Drift trigger
(upload decision)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874519"/>
            <a:ext cx="1600200" cy="822960"/>
          </a:xfrm>
          <a:prstGeom prst="roundRect">
            <a:avLst/>
          </a:prstGeom>
          <a:solidFill>
            <a:srgbClr val="E0EAFF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District
edge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874519"/>
            <a:ext cx="1645920" cy="822960"/>
          </a:xfrm>
          <a:prstGeom prst="roundRect">
            <a:avLst/>
          </a:prstGeom>
          <a:solidFill>
            <a:srgbClr val="E6F7F1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Cloud
aggregator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286000"/>
            <a:ext cx="502920" cy="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2286000"/>
            <a:ext cx="594360" cy="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9480" y="2286000"/>
            <a:ext cx="594360" cy="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64040" y="2286000"/>
            <a:ext cx="502920" cy="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880360" y="2852928"/>
            <a:ext cx="1874519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0">
                <a:solidFill>
                  <a:srgbClr val="5C6578"/>
                </a:solidFill>
                <a:latin typeface="Aptos"/>
              </a:rPr>
              <a:t>Train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852928"/>
            <a:ext cx="192024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0">
                <a:solidFill>
                  <a:srgbClr val="5C6578"/>
                </a:solidFill>
                <a:latin typeface="Aptos"/>
              </a:rPr>
              <a:t>Send only if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852928"/>
            <a:ext cx="16002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0">
                <a:solidFill>
                  <a:srgbClr val="5C6578"/>
                </a:solidFill>
                <a:latin typeface="Aptos"/>
              </a:rPr>
              <a:t>Aggregate nearby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160520"/>
            <a:ext cx="5394960" cy="731520"/>
          </a:xfrm>
          <a:prstGeom prst="roundRect">
            <a:avLst/>
          </a:prstGeom>
          <a:solidFill>
            <a:srgbClr val="F5F8FF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Updated shared model / adapter state returned to edge and clients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89920" y="2697480"/>
            <a:ext cx="0" cy="1005840"/>
          </a:xfrm>
          <a:prstGeom prst="line">
            <a:avLst/>
          </a:prstGeom>
          <a:ln w="25400">
            <a:solidFill>
              <a:srgbClr val="188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732520" y="3703320"/>
            <a:ext cx="2057400" cy="0"/>
          </a:xfrm>
          <a:prstGeom prst="line">
            <a:avLst/>
          </a:prstGeom>
          <a:ln w="25400">
            <a:solidFill>
              <a:srgbClr val="188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32520" y="3703320"/>
            <a:ext cx="0" cy="457200"/>
          </a:xfrm>
          <a:prstGeom prst="line">
            <a:avLst/>
          </a:prstGeom>
          <a:ln w="25400">
            <a:solidFill>
              <a:srgbClr val="188C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28800" y="4526280"/>
            <a:ext cx="1508760" cy="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28800" y="2697480"/>
            <a:ext cx="0" cy="182880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53492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500" b="1">
                <a:solidFill>
                  <a:srgbClr val="122B82"/>
                </a:solidFill>
                <a:latin typeface="Aptos"/>
              </a:rPr>
              <a:t>Raw traffic records stay at sensors. The network carries compact model updates and aggregated learning—not raw traffic histories.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Data Flow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8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Data Flow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What moves, where it moves, and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224CBE"/>
                </a:solidFill>
                <a:latin typeface="Aptos"/>
              </a:rPr>
              <a:t>SENSOR /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508760"/>
            <a:ext cx="27432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224CBE"/>
                </a:solidFill>
                <a:latin typeface="Aptos"/>
              </a:rPr>
              <a:t>EDGE /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508760"/>
            <a:ext cx="27432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224CBE"/>
                </a:solidFill>
                <a:latin typeface="Aptos"/>
              </a:rPr>
              <a:t>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965960"/>
            <a:ext cx="2331720" cy="685800"/>
          </a:xfrm>
          <a:prstGeom prst="roundRect">
            <a:avLst/>
          </a:prstGeom>
          <a:solidFill>
            <a:srgbClr val="E0EAFF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Traffic observations
(stay local)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54680"/>
            <a:ext cx="2331720" cy="685800"/>
          </a:xfrm>
          <a:prstGeom prst="roundRect">
            <a:avLst/>
          </a:prstGeom>
          <a:solidFill>
            <a:srgbClr val="F5F8FF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Train adapter +
measure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65960"/>
            <a:ext cx="2331720" cy="685800"/>
          </a:xfrm>
          <a:prstGeom prst="roundRect">
            <a:avLst/>
          </a:prstGeom>
          <a:solidFill>
            <a:srgbClr val="E0EAFF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Receive adapter
when triggered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3154680"/>
            <a:ext cx="2331720" cy="685800"/>
          </a:xfrm>
          <a:prstGeom prst="roundRect">
            <a:avLst/>
          </a:prstGeom>
          <a:solidFill>
            <a:srgbClr val="F5F8FF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Aggregate cluster
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2514600" cy="685800"/>
          </a:xfrm>
          <a:prstGeom prst="roundRect">
            <a:avLst/>
          </a:prstGeom>
          <a:solidFill>
            <a:srgbClr val="E6F7F1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Combine edge updates
periodically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154680"/>
            <a:ext cx="2514600" cy="685800"/>
          </a:xfrm>
          <a:prstGeom prst="roundRect">
            <a:avLst/>
          </a:prstGeom>
          <a:solidFill>
            <a:srgbClr val="F5F8FF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22B82"/>
                </a:solidFill>
                <a:latin typeface="Aptos"/>
              </a:rPr>
              <a:t>Global model state /
updated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38528" y="2651760"/>
            <a:ext cx="0" cy="50292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08960" y="2304288"/>
            <a:ext cx="1143000" cy="118872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13248" y="2651760"/>
            <a:ext cx="0" cy="50292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83680" y="2304288"/>
            <a:ext cx="1417320" cy="118872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53728" y="2651760"/>
            <a:ext cx="0" cy="502920"/>
          </a:xfrm>
          <a:prstGeom prst="line">
            <a:avLst/>
          </a:prstGeom>
          <a:ln w="25400">
            <a:solidFill>
              <a:srgbClr val="224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4434840"/>
            <a:ext cx="10424160" cy="6400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500" b="1">
                <a:solidFill>
                  <a:srgbClr val="1E2636"/>
                </a:solidFill>
                <a:latin typeface="Aptos"/>
              </a:rPr>
              <a:t>Accounting: log payload bytes and communication frequency at client→edge and edge→cloud tiers; report total bytes alongside MAE/RMSE.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500" b="1">
                <a:solidFill>
                  <a:srgbClr val="188C70"/>
                </a:solidFill>
                <a:latin typeface="Aptos"/>
              </a:rPr>
              <a:t>Privacy boundary: raw sensor data never leaves the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Deployment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9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Deployment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A practical validation sequence for the prototype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572768"/>
            <a:ext cx="502920" cy="502920"/>
          </a:xfrm>
          <a:prstGeom prst="ellipse">
            <a:avLst/>
          </a:prstGeom>
          <a:solidFill>
            <a:srgbClr val="22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1572768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22B82"/>
                </a:solidFill>
                <a:latin typeface="Aptos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72768"/>
            <a:ext cx="786384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E2636"/>
                </a:solidFill>
                <a:latin typeface="Aptos"/>
              </a:rPr>
              <a:t>Build traffic forecasting model and standard FedAvg baseline.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6132" y="2075688"/>
            <a:ext cx="0" cy="301752"/>
          </a:xfrm>
          <a:prstGeom prst="line">
            <a:avLst/>
          </a:prstGeom>
          <a:ln w="25400">
            <a:solidFill>
              <a:srgbClr val="CDD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04672" y="2404872"/>
            <a:ext cx="502920" cy="502920"/>
          </a:xfrm>
          <a:prstGeom prst="ellipse">
            <a:avLst/>
          </a:prstGeom>
          <a:solidFill>
            <a:srgbClr val="22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404872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22B82"/>
                </a:solidFill>
                <a:latin typeface="Aptos"/>
              </a:rPr>
              <a:t>LoRA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404872"/>
            <a:ext cx="786384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E2636"/>
                </a:solidFill>
                <a:latin typeface="Aptos"/>
              </a:rPr>
              <a:t>Replace full-model updates with compact adapter updates.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6132" y="2907791"/>
            <a:ext cx="0" cy="301753"/>
          </a:xfrm>
          <a:prstGeom prst="line">
            <a:avLst/>
          </a:prstGeom>
          <a:ln w="25400">
            <a:solidFill>
              <a:srgbClr val="CDD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04672" y="3236976"/>
            <a:ext cx="502920" cy="502920"/>
          </a:xfrm>
          <a:prstGeom prst="ellipse">
            <a:avLst/>
          </a:prstGeom>
          <a:solidFill>
            <a:srgbClr val="22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236976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22B82"/>
                </a:solidFill>
                <a:latin typeface="Aptos"/>
              </a:rPr>
              <a:t>Drift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236976"/>
            <a:ext cx="786384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E2636"/>
                </a:solidFill>
                <a:latin typeface="Aptos"/>
              </a:rPr>
              <a:t>Add adaptive local change detection and event-triggered uploads.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6132" y="3739896"/>
            <a:ext cx="0" cy="301752"/>
          </a:xfrm>
          <a:prstGeom prst="line">
            <a:avLst/>
          </a:prstGeom>
          <a:ln w="25400">
            <a:solidFill>
              <a:srgbClr val="CDD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4672" y="4069080"/>
            <a:ext cx="502920" cy="502920"/>
          </a:xfrm>
          <a:prstGeom prst="ellipse">
            <a:avLst/>
          </a:prstGeom>
          <a:solidFill>
            <a:srgbClr val="224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6192" y="406908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22B82"/>
                </a:solidFill>
                <a:latin typeface="Aptos"/>
              </a:rPr>
              <a:t>Hierarchy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069080"/>
            <a:ext cx="786384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E2636"/>
                </a:solidFill>
                <a:latin typeface="Aptos"/>
              </a:rPr>
              <a:t>Introduce cluster edge aggregation and cloud synchronization.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56132" y="4572000"/>
            <a:ext cx="0" cy="301752"/>
          </a:xfrm>
          <a:prstGeom prst="line">
            <a:avLst/>
          </a:prstGeom>
          <a:ln w="25400">
            <a:solidFill>
              <a:srgbClr val="CDD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04672" y="4901184"/>
            <a:ext cx="502920" cy="502920"/>
          </a:xfrm>
          <a:prstGeom prst="ellipse">
            <a:avLst/>
          </a:prstGeom>
          <a:solidFill>
            <a:srgbClr val="188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901184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600" b="1">
                <a:solidFill>
                  <a:srgbClr val="122B82"/>
                </a:solidFill>
                <a:latin typeface="Aptos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901184"/>
            <a:ext cx="786384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0">
                <a:solidFill>
                  <a:srgbClr val="1E2636"/>
                </a:solidFill>
                <a:latin typeface="Aptos"/>
              </a:rPr>
              <a:t>Measure prediction error, bytes sent, rounds and tier-wise communication.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1">
                <a:solidFill>
                  <a:srgbClr val="C1434A"/>
                </a:solidFill>
                <a:latin typeface="Aptos"/>
              </a:rPr>
              <a:t>Milestones are proposed workflow steps; no performance figures are claimed yet.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224CBE"/>
                </a:solidFill>
                <a:latin typeface="Aptos"/>
              </a:rPr>
              <a:t>AIORI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6459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1000" b="1">
                <a:solidFill>
                  <a:srgbClr val="224CBE"/>
                </a:solidFill>
                <a:latin typeface="Aptos"/>
              </a:rPr>
              <a:t>Bibliography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84280" cy="13716"/>
          </a:xfrm>
          <a:prstGeom prst="rect">
            <a:avLst/>
          </a:prstGeom>
          <a:solidFill>
            <a:srgbClr val="CDD5E2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0">
                <a:solidFill>
                  <a:srgbClr val="5C6578"/>
                </a:solidFill>
                <a:latin typeface="Aptos"/>
              </a:rPr>
              <a:t>HACKLTZS  ·  A3-PS003-TC482  · 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800" b="0">
                <a:solidFill>
                  <a:srgbClr val="224CBE"/>
                </a:solidFill>
                <a:latin typeface="Aptos"/>
              </a:rPr>
              <a:t>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22B82"/>
                </a:solidFill>
                <a:latin typeface="Aptos"/>
              </a:rPr>
              <a:t>Evaluation Plan &amp;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1247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5C6578"/>
                </a:solidFill>
                <a:latin typeface="Aptos"/>
              </a:rPr>
              <a:t>How HiLo-Fed will be assessed fairly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342900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645920"/>
            <a:ext cx="68580" cy="137160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Prediction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084832"/>
            <a:ext cx="3136392" cy="8778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Report MAE and RMSE on held-out traffic observations. Lower error is better.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45920"/>
            <a:ext cx="342900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645920"/>
            <a:ext cx="68580" cy="1371600"/>
          </a:xfrm>
          <a:prstGeom prst="rect">
            <a:avLst/>
          </a:prstGeom>
          <a:solidFill>
            <a:srgbClr val="188C70"/>
          </a:solidFill>
          <a:ln>
            <a:solidFill>
              <a:srgbClr val="188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Communication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084832"/>
            <a:ext cx="3136392" cy="8778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Count all bytes sent, including client→edge and edge→cloud traffic.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429000" cy="1371600"/>
          </a:xfrm>
          <a:prstGeom prst="roundRect">
            <a:avLst/>
          </a:prstGeom>
          <a:solidFill>
            <a:srgbClr val="F5F8FF"/>
          </a:solidFill>
          <a:ln>
            <a:solidFill>
              <a:srgbClr val="CD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45920"/>
            <a:ext cx="68580" cy="1371600"/>
          </a:xfrm>
          <a:prstGeom prst="rect">
            <a:avLst/>
          </a:prstGeom>
          <a:solidFill>
            <a:srgbClr val="E6922A"/>
          </a:solidFill>
          <a:ln>
            <a:solidFill>
              <a:srgbClr val="E69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737360"/>
            <a:ext cx="3154680" cy="30175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Baselines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084832"/>
            <a:ext cx="3136392" cy="87782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E2636"/>
                </a:solidFill>
                <a:latin typeface="Aptos"/>
              </a:rPr>
              <a:t>Compare standard FedAvg and federated learning with simple compression.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37560"/>
            <a:ext cx="10698480" cy="3200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22B82"/>
                </a:solidFill>
                <a:latin typeface="Aptos"/>
              </a:rPr>
              <a:t>PRIMARY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730752"/>
            <a:ext cx="10607040" cy="7772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0">
                <a:solidFill>
                  <a:srgbClr val="1E2636"/>
                </a:solidFill>
                <a:latin typeface="Aptos"/>
              </a:rPr>
              <a:t>Plot prediction error versus total bytes transmitted. The target is near-baseline accuracy with substantially fewer bytes; this remains a hypothesis until experiments are 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069848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122B82"/>
                </a:solidFill>
                <a:latin typeface="Aptos"/>
              </a:rPr>
              <a:t>METHOD REFERENCES / BACKGROUND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56048"/>
            <a:ext cx="10424160" cy="1097280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636"/>
                </a:solidFill>
                <a:latin typeface="Aptos"/>
              </a:defRPr>
            </a:pPr>
            <a:r>
              <a:t>•  McMahan et al., “Communication-Efficient Learning of Deep Networks from Decentralized Data” (FedAvg, 2017).</a:t>
            </a:r>
          </a:p>
          <a:p>
            <a:pPr>
              <a:spcAft>
                <a:spcPts val="800"/>
              </a:spcAft>
              <a:defRPr sz="1100">
                <a:solidFill>
                  <a:srgbClr val="1E2636"/>
                </a:solidFill>
                <a:latin typeface="Aptos"/>
              </a:defRPr>
            </a:pPr>
            <a:r>
              <a:t>•  Hu et al., “LoRA: Low-Rank Adaptation of Large Language Models” (parameter-efficient adaptation, 2021).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4CBE"/>
          </a:solidFill>
          <a:ln>
            <a:solidFill>
              <a:srgbClr val="224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22B82"/>
          </a:solidFill>
          <a:ln>
            <a:solidFill>
              <a:srgbClr val="122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4200" b="1">
                <a:solidFill>
                  <a:srgbClr val="122B82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2200" b="1">
                <a:solidFill>
                  <a:srgbClr val="224CBE"/>
                </a:solidFill>
                <a:latin typeface="Aptos"/>
              </a:rPr>
              <a:t>Smaller updates. Smarter timing. Closer aggregation.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102412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800" b="1">
                <a:solidFill>
                  <a:srgbClr val="1E2636"/>
                </a:solidFill>
                <a:latin typeface="Aptos"/>
              </a:rPr>
              <a:t>Team HACKLTZS  ·  PS003 TC482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67328"/>
            <a:ext cx="102412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600" b="0">
                <a:solidFill>
                  <a:srgbClr val="5C6578"/>
                </a:solidFill>
                <a:latin typeface="Aptos"/>
              </a:rPr>
              <a:t>Shlok Agarwal  ·  shlokagarwal64@gmail.com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987552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2000" b="1">
                <a:solidFill>
                  <a:srgbClr val="122B82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492240"/>
            <a:ext cx="310896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AIORI 3  •  14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